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687"/>
  </p:normalViewPr>
  <p:slideViewPr>
    <p:cSldViewPr snapToGrid="0" snapToObjects="1">
      <p:cViewPr varScale="1">
        <p:scale>
          <a:sx n="128" d="100"/>
          <a:sy n="128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4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1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05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0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6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9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0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2127D-5ADE-C94F-892E-90F552ACE4D9}" type="datetimeFigureOut">
              <a:rPr lang="en-US" smtClean="0"/>
              <a:t>7/21/22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B73D-2BA5-6048-A7F8-87D5A241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2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687" y="350201"/>
            <a:ext cx="6400800" cy="3396853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Hola a todos.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Encantado de conoceros, chicos. Me llamo Alex y en esta siguiente parte del examen voy a mostrarte algunas posturas y quiero que me digas cuándo crees que pueden ser dolorosas.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Esta parte del examen durará </a:t>
            </a:r>
            <a:r>
              <a:rPr lang="es-ES_tradnl" sz="1800" b="1" dirty="0"/>
              <a:t>unos 15 minutos</a:t>
            </a:r>
            <a:r>
              <a:rPr lang="es-ES_tradnl" sz="1800" dirty="0">
                <a:latin typeface="+mj-lt"/>
              </a:rPr>
              <a:t>, así que busque un lugar tranquilo donde no le molesten.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Puedes utilizar un </a:t>
            </a:r>
            <a:r>
              <a:rPr lang="es-ES_tradnl" sz="1800" b="1" dirty="0"/>
              <a:t>ordenador o una tableta </a:t>
            </a:r>
            <a:r>
              <a:rPr lang="es-ES_tradnl" sz="1800" dirty="0">
                <a:latin typeface="+mj-lt"/>
              </a:rPr>
              <a:t>para poder ver todo con claridad. No te olvides de llevar auriculares.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Si necesitas cambiar de dispositivo, cierra esta ventana y haz clic en el enlace que te enviamos en el nuevo dispositivo. No olvide volver a introducir su código de identificación del estudio.</a:t>
            </a:r>
          </a:p>
          <a:p>
            <a:pPr>
              <a:spcBef>
                <a:spcPts val="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87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5ACE40-6C53-8F53-2C9D-6D70085046F9}"/>
              </a:ext>
            </a:extLst>
          </p:cNvPr>
          <p:cNvSpPr txBox="1"/>
          <p:nvPr/>
        </p:nvSpPr>
        <p:spPr>
          <a:xfrm>
            <a:off x="317149" y="383481"/>
            <a:ext cx="64017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latin typeface="+mj-lt"/>
              </a:rPr>
              <a:t>Primero hay que comprobar si se pueden oír los sonidos.</a:t>
            </a:r>
          </a:p>
          <a:p>
            <a:endParaRPr lang="es-ES_tradnl" dirty="0">
              <a:latin typeface="+mj-lt"/>
            </a:endParaRPr>
          </a:p>
          <a:p>
            <a:r>
              <a:rPr lang="es-ES_tradnl" dirty="0">
                <a:latin typeface="+mj-lt"/>
              </a:rPr>
              <a:t>Para ello, ajuste el volumen de manera que sólo oiga el sonido muy suavemente cuando pulse el cuadrado </a:t>
            </a:r>
            <a:r>
              <a:rPr lang="es-ES_tradnl" b="1" dirty="0">
                <a:solidFill>
                  <a:srgbClr val="0070C0"/>
                </a:solidFill>
              </a:rPr>
              <a:t>AZUL</a:t>
            </a:r>
            <a:r>
              <a:rPr lang="es-ES_tradnl" b="1" dirty="0">
                <a:solidFill>
                  <a:srgbClr val="0070C0"/>
                </a:solidFill>
                <a:latin typeface="+mj-lt"/>
              </a:rPr>
              <a:t>.</a:t>
            </a:r>
          </a:p>
          <a:p>
            <a:endParaRPr lang="es-ES_tradnl" dirty="0">
              <a:latin typeface="+mj-lt"/>
            </a:endParaRPr>
          </a:p>
          <a:p>
            <a:r>
              <a:rPr lang="es-ES_tradnl" dirty="0">
                <a:latin typeface="+mj-lt"/>
              </a:rPr>
              <a:t>El sonido que se escucha al pulsar el círculo </a:t>
            </a:r>
            <a:r>
              <a:rPr lang="es-ES_tradnl" b="1" dirty="0">
                <a:solidFill>
                  <a:srgbClr val="FF0000"/>
                </a:solidFill>
              </a:rPr>
              <a:t>ROJO</a:t>
            </a:r>
            <a:r>
              <a:rPr lang="es-ES_tradnl" dirty="0">
                <a:latin typeface="+mj-lt"/>
              </a:rPr>
              <a:t> debe ser ahora fuerte y desagradable, pero no doloroso.</a:t>
            </a:r>
          </a:p>
        </p:txBody>
      </p:sp>
    </p:spTree>
    <p:extLst>
      <p:ext uri="{BB962C8B-B14F-4D97-AF65-F5344CB8AC3E}">
        <p14:creationId xmlns:p14="http://schemas.microsoft.com/office/powerpoint/2010/main" val="843928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28" y="389078"/>
            <a:ext cx="8305498" cy="3248644"/>
          </a:xfrm>
        </p:spPr>
        <p:txBody>
          <a:bodyPr>
            <a:normAutofit/>
          </a:bodyPr>
          <a:lstStyle/>
          <a:p>
            <a:pPr algn="l"/>
            <a:r>
              <a:rPr lang="es-ES_tradnl" sz="1800" dirty="0">
                <a:latin typeface="+mj-lt"/>
              </a:rPr>
              <a:t>¿Qué tan </a:t>
            </a:r>
            <a:r>
              <a:rPr lang="es-ES_tradnl" sz="1800" b="1" dirty="0">
                <a:latin typeface="+mj-lt"/>
              </a:rPr>
              <a:t>desagradable</a:t>
            </a:r>
            <a:r>
              <a:rPr lang="es-ES_tradnl" sz="1800" dirty="0">
                <a:latin typeface="+mj-lt"/>
              </a:rPr>
              <a:t> fue el grito?</a:t>
            </a:r>
          </a:p>
          <a:p>
            <a:pPr algn="l"/>
            <a:endParaRPr lang="es-ES_tradnl" sz="1800" dirty="0">
              <a:latin typeface="+mj-lt"/>
            </a:endParaRPr>
          </a:p>
          <a:p>
            <a:pPr algn="l"/>
            <a:r>
              <a:rPr lang="es-ES_tradnl" sz="1800" dirty="0">
                <a:latin typeface="+mj-lt"/>
              </a:rPr>
              <a:t>Por favor, responda utilizando la siguiente escala de valoración. </a:t>
            </a:r>
            <a:r>
              <a:rPr lang="es-ES_tradnl" sz="1800" i="1" dirty="0">
                <a:latin typeface="+mj-lt"/>
              </a:rPr>
              <a:t>Tienes 6 segundos para responder.</a:t>
            </a:r>
          </a:p>
        </p:txBody>
      </p:sp>
    </p:spTree>
    <p:extLst>
      <p:ext uri="{BB962C8B-B14F-4D97-AF65-F5344CB8AC3E}">
        <p14:creationId xmlns:p14="http://schemas.microsoft.com/office/powerpoint/2010/main" val="177745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687" y="380017"/>
            <a:ext cx="6410739" cy="3396853"/>
          </a:xfrm>
        </p:spPr>
        <p:txBody>
          <a:bodyPr>
            <a:normAutofit/>
          </a:bodyPr>
          <a:lstStyle/>
          <a:p>
            <a:pPr algn="l"/>
            <a:r>
              <a:rPr lang="es-ES_tradnl" sz="1800" dirty="0">
                <a:latin typeface="+mj-lt"/>
              </a:rPr>
              <a:t>Ahora voy a mostrarte algunas posturas diferentes y quiero que me digas lo </a:t>
            </a:r>
            <a:r>
              <a:rPr lang="es-ES_tradnl" sz="1800" b="1" dirty="0"/>
              <a:t>dolorosas</a:t>
            </a:r>
            <a:r>
              <a:rPr lang="es-ES_tradnl" sz="1800" b="1" dirty="0">
                <a:latin typeface="+mj-lt"/>
              </a:rPr>
              <a:t> </a:t>
            </a:r>
            <a:r>
              <a:rPr lang="es-ES_tradnl" sz="1800" dirty="0">
                <a:latin typeface="+mj-lt"/>
              </a:rPr>
              <a:t>que crees</a:t>
            </a:r>
            <a:r>
              <a:rPr lang="es-ES_tradnl" sz="1800" b="1" dirty="0">
                <a:latin typeface="+mj-lt"/>
              </a:rPr>
              <a:t> </a:t>
            </a:r>
            <a:r>
              <a:rPr lang="es-ES_tradnl" sz="1800" dirty="0">
                <a:latin typeface="+mj-lt"/>
              </a:rPr>
              <a:t>que serían estas posturas </a:t>
            </a:r>
            <a:r>
              <a:rPr lang="es-ES_tradnl" sz="1800" b="1" dirty="0"/>
              <a:t>para ti</a:t>
            </a:r>
            <a:r>
              <a:rPr lang="es-ES_tradnl" sz="1800" b="1" dirty="0">
                <a:latin typeface="+mj-lt"/>
              </a:rPr>
              <a:t>.</a:t>
            </a:r>
          </a:p>
          <a:p>
            <a:pPr algn="l"/>
            <a:endParaRPr lang="es-ES_tradnl" sz="1800" dirty="0">
              <a:latin typeface="+mj-lt"/>
            </a:endParaRPr>
          </a:p>
          <a:p>
            <a:pPr algn="l"/>
            <a:r>
              <a:rPr lang="es-ES_tradnl" sz="1800" dirty="0">
                <a:latin typeface="+mj-lt"/>
              </a:rPr>
              <a:t>Verás una imagen de la postura y después de unos segundos verás una pregunta debajo de ella, con una escala en la que puedes hacer clic para dar tu respuesta. Intenta ser rápido. Tienes 6 segundos para dar tu respuesta. </a:t>
            </a:r>
            <a:endParaRPr lang="es-ES_tradnl" sz="1800" dirty="0"/>
          </a:p>
        </p:txBody>
      </p:sp>
    </p:spTree>
    <p:extLst>
      <p:ext uri="{BB962C8B-B14F-4D97-AF65-F5344CB8AC3E}">
        <p14:creationId xmlns:p14="http://schemas.microsoft.com/office/powerpoint/2010/main" val="1105568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357" y="320383"/>
            <a:ext cx="8567530" cy="339685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¿Qué </a:t>
            </a:r>
            <a:r>
              <a:rPr lang="es-ES_tradnl" sz="1800" b="1" dirty="0"/>
              <a:t>tan doloroso </a:t>
            </a:r>
            <a:r>
              <a:rPr lang="es-ES_tradnl" sz="1800" dirty="0">
                <a:latin typeface="+mj-lt"/>
              </a:rPr>
              <a:t>sería para ti?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Por favor, responda utilizando la siguiente escala de valoración. </a:t>
            </a:r>
            <a:r>
              <a:rPr lang="es-ES_tradnl" sz="1800" i="1" dirty="0">
                <a:latin typeface="+mj-lt"/>
              </a:rPr>
              <a:t>Tienes 6 segundos para responder.</a:t>
            </a:r>
          </a:p>
          <a:p>
            <a:pPr>
              <a:spcBef>
                <a:spcPts val="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388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930" y="280626"/>
            <a:ext cx="6400800" cy="3396853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Gracias. Ahora quiero que me ayudes a aprender cuándo estas posturas pueden ser </a:t>
            </a:r>
            <a:r>
              <a:rPr lang="es-ES_tradnl" sz="1800" b="1" dirty="0"/>
              <a:t>dolorosas para mí</a:t>
            </a:r>
            <a:r>
              <a:rPr lang="es-ES_tradnl" sz="1800" b="1" dirty="0">
                <a:latin typeface="+mj-lt"/>
              </a:rPr>
              <a:t>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Te mostraré una pose y si te duele, gritaré al final (el mismo sonido que escuchaste cuando presionaste el botón rojo). Intenta prestar atención y aprender qué poses acaban perjudicándome.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Como antes, verás que aparecen preguntas debajo de la imagen. Algunas preguntas se refieren a </a:t>
            </a:r>
            <a:r>
              <a:rPr lang="es-ES_tradnl" sz="1800" b="1" dirty="0"/>
              <a:t>cómo crees que me sentiré yo (Alex)</a:t>
            </a:r>
            <a:r>
              <a:rPr lang="es-ES_tradnl" sz="1800" b="1" dirty="0">
                <a:latin typeface="+mj-lt"/>
              </a:rPr>
              <a:t>, </a:t>
            </a:r>
            <a:r>
              <a:rPr lang="es-ES_tradnl" sz="1800" dirty="0">
                <a:latin typeface="+mj-lt"/>
              </a:rPr>
              <a:t>y </a:t>
            </a:r>
            <a:r>
              <a:rPr lang="es-ES_tradnl" sz="1800" b="1" dirty="0"/>
              <a:t>otras a cómo te sientes tú</a:t>
            </a:r>
            <a:r>
              <a:rPr lang="es-ES_tradnl" sz="1800" dirty="0">
                <a:latin typeface="+mj-lt"/>
              </a:rPr>
              <a:t>. Intenta ser rápido. Tienes 6 segundos para dar tu respuesta.</a:t>
            </a:r>
          </a:p>
          <a:p>
            <a:pPr algn="l">
              <a:spcBef>
                <a:spcPts val="0"/>
              </a:spcBef>
            </a:pPr>
            <a:endParaRPr lang="es-ES_tradnl" sz="1800" dirty="0">
              <a:latin typeface="+mj-lt"/>
            </a:endParaRPr>
          </a:p>
          <a:p>
            <a:pPr algn="l">
              <a:spcBef>
                <a:spcPts val="0"/>
              </a:spcBef>
            </a:pPr>
            <a:r>
              <a:rPr lang="es-ES_tradnl" sz="1800" dirty="0">
                <a:latin typeface="+mj-lt"/>
              </a:rPr>
              <a:t>No olvides prestar atención a todo lo que veas y oigas. Cuando oigas el pitido silencioso (como cuando pulsaste el botón azul), pulsa el cuadrado azul de la esquina superior derecha tan rápido como puedas.</a:t>
            </a:r>
          </a:p>
          <a:p>
            <a:pPr>
              <a:spcBef>
                <a:spcPts val="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172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566" y="360140"/>
            <a:ext cx="8408504" cy="3396853"/>
          </a:xfrm>
        </p:spPr>
        <p:txBody>
          <a:bodyPr>
            <a:normAutofit/>
          </a:bodyPr>
          <a:lstStyle/>
          <a:p>
            <a:pPr algn="l"/>
            <a:r>
              <a:rPr lang="es-ES_tradnl" sz="1800" dirty="0">
                <a:latin typeface="+mj-lt"/>
              </a:rPr>
              <a:t>¿Qué </a:t>
            </a:r>
            <a:r>
              <a:rPr lang="es-ES_tradnl" sz="1800" b="1" dirty="0"/>
              <a:t>probabilidad</a:t>
            </a:r>
            <a:r>
              <a:rPr lang="es-ES_tradnl" sz="1800" dirty="0">
                <a:latin typeface="+mj-lt"/>
              </a:rPr>
              <a:t> hay de que esto sea </a:t>
            </a:r>
            <a:r>
              <a:rPr lang="es-ES_tradnl" sz="1800" b="1" dirty="0"/>
              <a:t>doloroso</a:t>
            </a:r>
            <a:r>
              <a:rPr lang="es-ES_tradnl" sz="1800" dirty="0">
                <a:latin typeface="+mj-lt"/>
              </a:rPr>
              <a:t> para Alex?</a:t>
            </a:r>
          </a:p>
          <a:p>
            <a:pPr algn="l"/>
            <a:endParaRPr lang="es-ES_tradnl" sz="1800" dirty="0">
              <a:latin typeface="+mj-lt"/>
            </a:endParaRPr>
          </a:p>
          <a:p>
            <a:pPr algn="l"/>
            <a:r>
              <a:rPr lang="es-ES_tradnl" sz="1800" dirty="0">
                <a:latin typeface="+mj-lt"/>
              </a:rPr>
              <a:t>Por favor, responda utilizando la siguiente escala de valoración. Tienes 6 segundos para responder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0041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30321"/>
            <a:ext cx="8179904" cy="3396853"/>
          </a:xfrm>
        </p:spPr>
        <p:txBody>
          <a:bodyPr>
            <a:normAutofit/>
          </a:bodyPr>
          <a:lstStyle/>
          <a:p>
            <a:pPr algn="l"/>
            <a:r>
              <a:rPr lang="es-ES_tradnl" sz="1800" dirty="0">
                <a:latin typeface="+mj-lt"/>
              </a:rPr>
              <a:t>¿Cómo de </a:t>
            </a:r>
            <a:r>
              <a:rPr lang="es-ES_tradnl" sz="1800" b="1" dirty="0"/>
              <a:t>asustado</a:t>
            </a:r>
            <a:r>
              <a:rPr lang="es-ES_tradnl" sz="1800" dirty="0">
                <a:latin typeface="+mj-lt"/>
              </a:rPr>
              <a:t> estás en </a:t>
            </a:r>
            <a:r>
              <a:rPr lang="es-ES_tradnl" sz="1800" b="1" dirty="0"/>
              <a:t>este</a:t>
            </a:r>
            <a:r>
              <a:rPr lang="es-ES_tradnl" sz="1800" dirty="0">
                <a:latin typeface="+mj-lt"/>
              </a:rPr>
              <a:t> momento?</a:t>
            </a:r>
          </a:p>
          <a:p>
            <a:pPr algn="l"/>
            <a:endParaRPr lang="es-ES_tradnl" sz="1800" dirty="0">
              <a:latin typeface="+mj-lt"/>
            </a:endParaRPr>
          </a:p>
          <a:p>
            <a:pPr algn="l"/>
            <a:r>
              <a:rPr lang="es-ES_tradnl" sz="1800" dirty="0">
                <a:latin typeface="+mj-lt"/>
              </a:rPr>
              <a:t>Por favor, responda utilizando la siguiente escala. </a:t>
            </a:r>
            <a:r>
              <a:rPr lang="es-ES_tradnl" sz="1800" i="1" dirty="0">
                <a:latin typeface="+mj-lt"/>
              </a:rPr>
              <a:t>Tienes 6 segundos para responder.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508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3E0F2-6C2C-1E80-2708-6186385B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382" y="389957"/>
            <a:ext cx="6400801" cy="3396853"/>
          </a:xfrm>
        </p:spPr>
        <p:txBody>
          <a:bodyPr>
            <a:normAutofit/>
          </a:bodyPr>
          <a:lstStyle/>
          <a:p>
            <a:pPr algn="l"/>
            <a:r>
              <a:rPr lang="es-ES_tradnl" sz="1800" b="1" dirty="0"/>
              <a:t>Este es el final del experimento. Gracias por tomarte el tiempo de ayudarme.</a:t>
            </a:r>
          </a:p>
          <a:p>
            <a:pPr algn="l"/>
            <a:endParaRPr lang="es-ES_tradnl" sz="1800" b="1" dirty="0">
              <a:latin typeface="+mj-lt"/>
            </a:endParaRPr>
          </a:p>
          <a:p>
            <a:pPr algn="l"/>
            <a:r>
              <a:rPr lang="es-ES_tradnl" sz="1800" dirty="0">
                <a:latin typeface="+mj-lt"/>
              </a:rPr>
              <a:t>Tengo algunas preguntas más para usted que verá cuando haga clic en la flecha verde. Esta será la última parte de la encuesta y debería llevar unos 10-15 minutos.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552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518</Words>
  <Application>Microsoft Macintosh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Brinkmann, Clara (Stud. FPN / Alumni FPN)</dc:creator>
  <cp:lastModifiedBy>Emma Elizabeth Biggs</cp:lastModifiedBy>
  <cp:revision>8</cp:revision>
  <dcterms:created xsi:type="dcterms:W3CDTF">2022-07-21T11:37:13Z</dcterms:created>
  <dcterms:modified xsi:type="dcterms:W3CDTF">2022-07-21T19:01:09Z</dcterms:modified>
</cp:coreProperties>
</file>