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3" r:id="rId8"/>
    <p:sldId id="262"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94694"/>
  </p:normalViewPr>
  <p:slideViewPr>
    <p:cSldViewPr snapToGrid="0" snapToObjects="1">
      <p:cViewPr varScale="1">
        <p:scale>
          <a:sx n="121" d="100"/>
          <a:sy n="121" d="100"/>
        </p:scale>
        <p:origin x="18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8BD5E5-43A1-2F4D-9AED-4FC0297BBB0F}"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3247770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BD5E5-43A1-2F4D-9AED-4FC0297BBB0F}"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658114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8BD5E5-43A1-2F4D-9AED-4FC0297BBB0F}"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4067097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8BD5E5-43A1-2F4D-9AED-4FC0297BBB0F}"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1676453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8BD5E5-43A1-2F4D-9AED-4FC0297BBB0F}" type="datetimeFigureOut">
              <a:rPr lang="en-US" smtClean="0"/>
              <a:t>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280656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8BD5E5-43A1-2F4D-9AED-4FC0297BBB0F}" type="datetimeFigureOut">
              <a:rPr lang="en-US" smtClean="0"/>
              <a:t>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1556648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8BD5E5-43A1-2F4D-9AED-4FC0297BBB0F}" type="datetimeFigureOut">
              <a:rPr lang="en-US" smtClean="0"/>
              <a:t>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1022891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1"/>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8BD5E5-43A1-2F4D-9AED-4FC0297BBB0F}"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261071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1"/>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8BD5E5-43A1-2F4D-9AED-4FC0297BBB0F}"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3859988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BD5E5-43A1-2F4D-9AED-4FC0297BBB0F}"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3714502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BD5E5-43A1-2F4D-9AED-4FC0297BBB0F}"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A5880-BA27-A145-9E5C-66BBCB26B303}" type="slidenum">
              <a:rPr lang="en-US" smtClean="0"/>
              <a:t>‹#›</a:t>
            </a:fld>
            <a:endParaRPr lang="en-US"/>
          </a:p>
        </p:txBody>
      </p:sp>
    </p:spTree>
    <p:extLst>
      <p:ext uri="{BB962C8B-B14F-4D97-AF65-F5344CB8AC3E}">
        <p14:creationId xmlns:p14="http://schemas.microsoft.com/office/powerpoint/2010/main" val="2986049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8BD5E5-43A1-2F4D-9AED-4FC0297BBB0F}" type="datetimeFigureOut">
              <a:rPr lang="en-US" smtClean="0"/>
              <a:t>7/20/22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8A5880-BA27-A145-9E5C-66BBCB26B303}" type="slidenum">
              <a:rPr lang="en-US" smtClean="0"/>
              <a:t>‹#›</a:t>
            </a:fld>
            <a:endParaRPr lang="en-US"/>
          </a:p>
        </p:txBody>
      </p:sp>
    </p:spTree>
    <p:extLst>
      <p:ext uri="{BB962C8B-B14F-4D97-AF65-F5344CB8AC3E}">
        <p14:creationId xmlns:p14="http://schemas.microsoft.com/office/powerpoint/2010/main" val="2842808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282728" y="315434"/>
            <a:ext cx="6400800" cy="4247317"/>
          </a:xfrm>
          <a:prstGeom prst="rect">
            <a:avLst/>
          </a:prstGeom>
          <a:noFill/>
        </p:spPr>
        <p:txBody>
          <a:bodyPr wrap="square" rtlCol="0">
            <a:spAutoFit/>
          </a:bodyPr>
          <a:lstStyle/>
          <a:p>
            <a:pPr algn="just"/>
            <a:r>
              <a:rPr lang="en-US" dirty="0">
                <a:latin typeface="+mj-lt"/>
              </a:rPr>
              <a:t>Hi there!</a:t>
            </a:r>
          </a:p>
          <a:p>
            <a:pPr algn="just"/>
            <a:endParaRPr lang="en-US" dirty="0">
              <a:latin typeface="+mj-lt"/>
            </a:endParaRPr>
          </a:p>
          <a:p>
            <a:pPr algn="just"/>
            <a:r>
              <a:rPr lang="en-US" dirty="0">
                <a:latin typeface="+mj-lt"/>
              </a:rPr>
              <a:t>Nice to meet you! My name is Alex and in this next part of the study I'm going to show you some different poses and I want you to tell me when you think these might be painful.</a:t>
            </a:r>
          </a:p>
          <a:p>
            <a:pPr algn="just"/>
            <a:endParaRPr lang="en-US" dirty="0">
              <a:latin typeface="+mj-lt"/>
            </a:endParaRPr>
          </a:p>
          <a:p>
            <a:pPr algn="just"/>
            <a:r>
              <a:rPr lang="en-US" dirty="0">
                <a:latin typeface="+mj-lt"/>
              </a:rPr>
              <a:t>This part of the study will take about </a:t>
            </a:r>
            <a:r>
              <a:rPr lang="en-US" b="1" dirty="0"/>
              <a:t>15 minutes</a:t>
            </a:r>
            <a:r>
              <a:rPr lang="en-US" b="1" dirty="0">
                <a:latin typeface="+mj-lt"/>
              </a:rPr>
              <a:t> </a:t>
            </a:r>
            <a:r>
              <a:rPr lang="en-US" dirty="0">
                <a:latin typeface="+mj-lt"/>
              </a:rPr>
              <a:t>so please find a quiet place where you will not be interrupted.</a:t>
            </a:r>
          </a:p>
          <a:p>
            <a:pPr algn="just"/>
            <a:endParaRPr lang="en-US" dirty="0">
              <a:latin typeface="+mj-lt"/>
            </a:endParaRPr>
          </a:p>
          <a:p>
            <a:pPr algn="just"/>
            <a:r>
              <a:rPr lang="en-US" dirty="0">
                <a:latin typeface="+mj-lt"/>
              </a:rPr>
              <a:t>To make sure you can see everything use a </a:t>
            </a:r>
            <a:r>
              <a:rPr lang="en-US" b="1" dirty="0"/>
              <a:t>computer or tablet</a:t>
            </a:r>
            <a:r>
              <a:rPr lang="en-US" dirty="0">
                <a:latin typeface="+mj-lt"/>
              </a:rPr>
              <a:t>. Don't forget to grab some </a:t>
            </a:r>
            <a:r>
              <a:rPr lang="en-US" b="1" dirty="0"/>
              <a:t>headphones</a:t>
            </a:r>
            <a:r>
              <a:rPr lang="en-US" dirty="0">
                <a:latin typeface="+mj-lt"/>
              </a:rPr>
              <a:t>!</a:t>
            </a:r>
          </a:p>
          <a:p>
            <a:pPr algn="just"/>
            <a:endParaRPr lang="en-US" dirty="0">
              <a:latin typeface="+mj-lt"/>
            </a:endParaRPr>
          </a:p>
          <a:p>
            <a:pPr algn="just"/>
            <a:r>
              <a:rPr lang="en-US" dirty="0">
                <a:latin typeface="+mj-lt"/>
              </a:rPr>
              <a:t>If you need to switch device just close this window and click the link we sent you on the new device. Don't forget to enter your study ID code again.</a:t>
            </a:r>
          </a:p>
        </p:txBody>
      </p:sp>
    </p:spTree>
    <p:extLst>
      <p:ext uri="{BB962C8B-B14F-4D97-AF65-F5344CB8AC3E}">
        <p14:creationId xmlns:p14="http://schemas.microsoft.com/office/powerpoint/2010/main" val="2328733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251197" y="315434"/>
            <a:ext cx="6401851" cy="2031325"/>
          </a:xfrm>
          <a:prstGeom prst="rect">
            <a:avLst/>
          </a:prstGeom>
          <a:noFill/>
        </p:spPr>
        <p:txBody>
          <a:bodyPr wrap="square" rtlCol="0">
            <a:spAutoFit/>
          </a:bodyPr>
          <a:lstStyle/>
          <a:p>
            <a:pPr algn="just"/>
            <a:r>
              <a:rPr lang="en-US" dirty="0">
                <a:latin typeface="+mj-lt"/>
              </a:rPr>
              <a:t>First, we need to check that you can hear the sounds.</a:t>
            </a:r>
          </a:p>
          <a:p>
            <a:pPr algn="just"/>
            <a:endParaRPr lang="en-US" dirty="0">
              <a:latin typeface="+mj-lt"/>
            </a:endParaRPr>
          </a:p>
          <a:p>
            <a:pPr algn="just"/>
            <a:r>
              <a:rPr lang="en-US" dirty="0">
                <a:latin typeface="+mj-lt"/>
              </a:rPr>
              <a:t>Change the volume on your device so that you can just very quietly hear the sound when you press the </a:t>
            </a:r>
            <a:r>
              <a:rPr lang="en-US" b="1" dirty="0">
                <a:solidFill>
                  <a:srgbClr val="0070C0"/>
                </a:solidFill>
              </a:rPr>
              <a:t>BLUE</a:t>
            </a:r>
            <a:r>
              <a:rPr lang="en-US" dirty="0">
                <a:latin typeface="+mj-lt"/>
              </a:rPr>
              <a:t> square.</a:t>
            </a:r>
          </a:p>
          <a:p>
            <a:pPr algn="just"/>
            <a:endParaRPr lang="en-US" dirty="0">
              <a:latin typeface="+mj-lt"/>
            </a:endParaRPr>
          </a:p>
          <a:p>
            <a:pPr algn="just"/>
            <a:r>
              <a:rPr lang="en-US" dirty="0">
                <a:latin typeface="+mj-lt"/>
              </a:rPr>
              <a:t>The sound when you press the </a:t>
            </a:r>
            <a:r>
              <a:rPr lang="en-US" b="1" dirty="0">
                <a:solidFill>
                  <a:srgbClr val="C00000"/>
                </a:solidFill>
              </a:rPr>
              <a:t>RED</a:t>
            </a:r>
            <a:r>
              <a:rPr lang="en-US" dirty="0">
                <a:latin typeface="+mj-lt"/>
              </a:rPr>
              <a:t> circle should now be loud and unpleasant, but not painful.</a:t>
            </a:r>
          </a:p>
        </p:txBody>
      </p:sp>
    </p:spTree>
    <p:extLst>
      <p:ext uri="{BB962C8B-B14F-4D97-AF65-F5344CB8AC3E}">
        <p14:creationId xmlns:p14="http://schemas.microsoft.com/office/powerpoint/2010/main" val="1410924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640080" y="462579"/>
            <a:ext cx="7863840" cy="923330"/>
          </a:xfrm>
          <a:prstGeom prst="rect">
            <a:avLst/>
          </a:prstGeom>
          <a:noFill/>
        </p:spPr>
        <p:txBody>
          <a:bodyPr wrap="square" rtlCol="0">
            <a:spAutoFit/>
          </a:bodyPr>
          <a:lstStyle/>
          <a:p>
            <a:r>
              <a:rPr lang="en-US" dirty="0">
                <a:latin typeface="+mj-lt"/>
              </a:rPr>
              <a:t>How </a:t>
            </a:r>
            <a:r>
              <a:rPr lang="en-US" b="1" dirty="0"/>
              <a:t>unpleasant</a:t>
            </a:r>
            <a:r>
              <a:rPr lang="en-US" dirty="0">
                <a:latin typeface="+mj-lt"/>
              </a:rPr>
              <a:t> was the scream?</a:t>
            </a:r>
          </a:p>
          <a:p>
            <a:endParaRPr lang="en-US" dirty="0">
              <a:latin typeface="+mj-lt"/>
            </a:endParaRPr>
          </a:p>
          <a:p>
            <a:r>
              <a:rPr lang="en-US" sz="1600" dirty="0">
                <a:latin typeface="+mj-lt"/>
              </a:rPr>
              <a:t>Please answer using the rating scale below. </a:t>
            </a:r>
            <a:r>
              <a:rPr lang="en-US" sz="1600" i="1" dirty="0">
                <a:latin typeface="+mj-lt"/>
              </a:rPr>
              <a:t>You have 6 seconds to respond</a:t>
            </a:r>
          </a:p>
        </p:txBody>
      </p:sp>
    </p:spTree>
    <p:extLst>
      <p:ext uri="{BB962C8B-B14F-4D97-AF65-F5344CB8AC3E}">
        <p14:creationId xmlns:p14="http://schemas.microsoft.com/office/powerpoint/2010/main" val="3637952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240688" y="2049640"/>
            <a:ext cx="6401851" cy="2031325"/>
          </a:xfrm>
          <a:prstGeom prst="rect">
            <a:avLst/>
          </a:prstGeom>
          <a:noFill/>
        </p:spPr>
        <p:txBody>
          <a:bodyPr wrap="square" rtlCol="0">
            <a:spAutoFit/>
          </a:bodyPr>
          <a:lstStyle/>
          <a:p>
            <a:pPr algn="just"/>
            <a:r>
              <a:rPr lang="en-US" dirty="0">
                <a:latin typeface="+mj-lt"/>
              </a:rPr>
              <a:t>I’m now going to show you some different poses and I want you tell me how </a:t>
            </a:r>
            <a:r>
              <a:rPr lang="en-US" b="1" dirty="0"/>
              <a:t>painful</a:t>
            </a:r>
            <a:r>
              <a:rPr lang="en-US" dirty="0">
                <a:latin typeface="+mj-lt"/>
              </a:rPr>
              <a:t> you think these would be for </a:t>
            </a:r>
            <a:r>
              <a:rPr lang="en-US" b="1" dirty="0"/>
              <a:t>you</a:t>
            </a:r>
            <a:r>
              <a:rPr lang="en-US" dirty="0">
                <a:latin typeface="+mj-lt"/>
              </a:rPr>
              <a:t>.</a:t>
            </a:r>
          </a:p>
          <a:p>
            <a:pPr algn="just"/>
            <a:endParaRPr lang="en-US" dirty="0">
              <a:latin typeface="+mj-lt"/>
            </a:endParaRPr>
          </a:p>
          <a:p>
            <a:pPr algn="just"/>
            <a:r>
              <a:rPr lang="en-US" dirty="0">
                <a:latin typeface="+mj-lt"/>
              </a:rPr>
              <a:t>You will see a picture of the pose and after a couple of seconds you will see a question under it, with a scale you can click on to give your answer. Try to be quick! You will have 6 seconds to give your answer. </a:t>
            </a:r>
          </a:p>
        </p:txBody>
      </p:sp>
    </p:spTree>
    <p:extLst>
      <p:ext uri="{BB962C8B-B14F-4D97-AF65-F5344CB8AC3E}">
        <p14:creationId xmlns:p14="http://schemas.microsoft.com/office/powerpoint/2010/main" val="241655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640080" y="462579"/>
            <a:ext cx="7863840" cy="923330"/>
          </a:xfrm>
          <a:prstGeom prst="rect">
            <a:avLst/>
          </a:prstGeom>
          <a:noFill/>
        </p:spPr>
        <p:txBody>
          <a:bodyPr wrap="square" rtlCol="0">
            <a:spAutoFit/>
          </a:bodyPr>
          <a:lstStyle/>
          <a:p>
            <a:pPr lvl="0"/>
            <a:r>
              <a:rPr lang="en-US" dirty="0">
                <a:latin typeface="+mj-lt"/>
              </a:rPr>
              <a:t>How </a:t>
            </a:r>
            <a:r>
              <a:rPr lang="en-US" b="1" dirty="0"/>
              <a:t>painful</a:t>
            </a:r>
            <a:r>
              <a:rPr lang="en-US" dirty="0">
                <a:latin typeface="+mj-lt"/>
              </a:rPr>
              <a:t> would this be for </a:t>
            </a:r>
            <a:r>
              <a:rPr lang="en-US" b="1" dirty="0"/>
              <a:t>you</a:t>
            </a:r>
            <a:r>
              <a:rPr lang="en-US" dirty="0">
                <a:latin typeface="+mj-lt"/>
              </a:rPr>
              <a:t>?</a:t>
            </a:r>
            <a:endParaRPr lang="en-US" dirty="0">
              <a:solidFill>
                <a:prstClr val="black"/>
              </a:solidFill>
              <a:latin typeface="Calibri Light" panose="020F0302020204030204"/>
            </a:endParaRPr>
          </a:p>
          <a:p>
            <a:pPr lvl="0"/>
            <a:endParaRPr lang="en-US" dirty="0">
              <a:solidFill>
                <a:prstClr val="black"/>
              </a:solidFill>
              <a:latin typeface="Calibri Light" panose="020F0302020204030204"/>
            </a:endParaRPr>
          </a:p>
          <a:p>
            <a:pPr lvl="0"/>
            <a:r>
              <a:rPr lang="en-US" sz="1600" dirty="0">
                <a:solidFill>
                  <a:prstClr val="black"/>
                </a:solidFill>
                <a:latin typeface="Calibri Light" panose="020F0302020204030204"/>
              </a:rPr>
              <a:t>Please answer using the rating scale below. </a:t>
            </a:r>
            <a:r>
              <a:rPr lang="en-US" sz="1600" i="1" dirty="0">
                <a:solidFill>
                  <a:prstClr val="black"/>
                </a:solidFill>
                <a:latin typeface="Calibri Light" panose="020F0302020204030204"/>
              </a:rPr>
              <a:t>You have 6 seconds to respond</a:t>
            </a:r>
            <a:r>
              <a:rPr lang="en-US" dirty="0">
                <a:latin typeface="+mj-lt"/>
              </a:rPr>
              <a:t> </a:t>
            </a:r>
          </a:p>
        </p:txBody>
      </p:sp>
    </p:spTree>
    <p:extLst>
      <p:ext uri="{BB962C8B-B14F-4D97-AF65-F5344CB8AC3E}">
        <p14:creationId xmlns:p14="http://schemas.microsoft.com/office/powerpoint/2010/main" val="383121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324770" y="346965"/>
            <a:ext cx="6401851" cy="4247317"/>
          </a:xfrm>
          <a:prstGeom prst="rect">
            <a:avLst/>
          </a:prstGeom>
          <a:noFill/>
        </p:spPr>
        <p:txBody>
          <a:bodyPr wrap="square" rtlCol="0">
            <a:spAutoFit/>
          </a:bodyPr>
          <a:lstStyle/>
          <a:p>
            <a:pPr algn="just"/>
            <a:r>
              <a:rPr lang="en-US" dirty="0">
                <a:latin typeface="+mj-lt"/>
              </a:rPr>
              <a:t>Thanks! Next, I want you to help me learn when these poses might be </a:t>
            </a:r>
            <a:r>
              <a:rPr lang="en-US" b="1" dirty="0"/>
              <a:t>painful</a:t>
            </a:r>
            <a:r>
              <a:rPr lang="en-US" dirty="0">
                <a:latin typeface="+mj-lt"/>
              </a:rPr>
              <a:t> for </a:t>
            </a:r>
            <a:r>
              <a:rPr lang="en-US" b="1" dirty="0"/>
              <a:t>me</a:t>
            </a:r>
            <a:r>
              <a:rPr lang="en-US" dirty="0">
                <a:latin typeface="+mj-lt"/>
              </a:rPr>
              <a:t>.</a:t>
            </a:r>
          </a:p>
          <a:p>
            <a:pPr algn="just"/>
            <a:endParaRPr lang="en-US" dirty="0">
              <a:latin typeface="+mj-lt"/>
            </a:endParaRPr>
          </a:p>
          <a:p>
            <a:pPr algn="just"/>
            <a:r>
              <a:rPr lang="en-US" dirty="0">
                <a:latin typeface="+mj-lt"/>
              </a:rPr>
              <a:t>I will show you a pose and if it hurts, I will scream at the end (the same sound you heard when you pressed the red button). Try to pay attention and learn which poses end up hurting me.</a:t>
            </a:r>
          </a:p>
          <a:p>
            <a:pPr algn="just"/>
            <a:endParaRPr lang="en-US" dirty="0">
              <a:latin typeface="+mj-lt"/>
            </a:endParaRPr>
          </a:p>
          <a:p>
            <a:pPr algn="just"/>
            <a:r>
              <a:rPr lang="en-US" dirty="0">
                <a:latin typeface="+mj-lt"/>
              </a:rPr>
              <a:t>Just like before you will see questions appear underneath the picture. Some questions are about </a:t>
            </a:r>
            <a:r>
              <a:rPr lang="en-US" b="1" dirty="0"/>
              <a:t>how you think I (Alex) will feel</a:t>
            </a:r>
            <a:r>
              <a:rPr lang="en-US" dirty="0">
                <a:latin typeface="+mj-lt"/>
              </a:rPr>
              <a:t>, and some questions are about </a:t>
            </a:r>
            <a:r>
              <a:rPr lang="en-US" b="1" dirty="0"/>
              <a:t>how you feel</a:t>
            </a:r>
            <a:r>
              <a:rPr lang="en-US" dirty="0">
                <a:latin typeface="+mj-lt"/>
              </a:rPr>
              <a:t>. Try to be quick! You will have 6 seconds to give your answer.</a:t>
            </a:r>
          </a:p>
          <a:p>
            <a:pPr algn="just"/>
            <a:endParaRPr lang="en-US" dirty="0">
              <a:latin typeface="+mj-lt"/>
            </a:endParaRPr>
          </a:p>
          <a:p>
            <a:pPr algn="just"/>
            <a:r>
              <a:rPr lang="en-US" dirty="0">
                <a:latin typeface="+mj-lt"/>
              </a:rPr>
              <a:t>Remember to pay attention to everything you see and hear! If you hear the quiet beep (like when you pressed the blue button) then press the blue square in the top right corner as quickly as you can.</a:t>
            </a:r>
          </a:p>
        </p:txBody>
      </p:sp>
    </p:spTree>
    <p:extLst>
      <p:ext uri="{BB962C8B-B14F-4D97-AF65-F5344CB8AC3E}">
        <p14:creationId xmlns:p14="http://schemas.microsoft.com/office/powerpoint/2010/main" val="2406091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640080" y="462579"/>
            <a:ext cx="7863840" cy="892552"/>
          </a:xfrm>
          <a:prstGeom prst="rect">
            <a:avLst/>
          </a:prstGeom>
          <a:noFill/>
        </p:spPr>
        <p:txBody>
          <a:bodyPr wrap="square" rtlCol="0">
            <a:spAutoFit/>
          </a:bodyPr>
          <a:lstStyle/>
          <a:p>
            <a:pPr lvl="0"/>
            <a:r>
              <a:rPr lang="en-US" dirty="0">
                <a:latin typeface="+mj-lt"/>
              </a:rPr>
              <a:t>How </a:t>
            </a:r>
            <a:r>
              <a:rPr lang="en-US" b="1" dirty="0"/>
              <a:t>likely</a:t>
            </a:r>
            <a:r>
              <a:rPr lang="en-US" dirty="0">
                <a:latin typeface="+mj-lt"/>
              </a:rPr>
              <a:t> is it that this will be </a:t>
            </a:r>
            <a:r>
              <a:rPr lang="en-US" b="1" dirty="0"/>
              <a:t>painful</a:t>
            </a:r>
            <a:r>
              <a:rPr lang="en-US" dirty="0">
                <a:latin typeface="+mj-lt"/>
              </a:rPr>
              <a:t> for </a:t>
            </a:r>
            <a:r>
              <a:rPr lang="en-US" b="1" dirty="0"/>
              <a:t>Alex</a:t>
            </a:r>
            <a:r>
              <a:rPr lang="en-US" dirty="0">
                <a:latin typeface="+mj-lt"/>
              </a:rPr>
              <a:t>?</a:t>
            </a:r>
            <a:endParaRPr lang="en-US" dirty="0">
              <a:solidFill>
                <a:prstClr val="black"/>
              </a:solidFill>
              <a:latin typeface="Calibri Light" panose="020F0302020204030204"/>
            </a:endParaRPr>
          </a:p>
          <a:p>
            <a:pPr lvl="0"/>
            <a:endParaRPr lang="en-US" dirty="0">
              <a:solidFill>
                <a:prstClr val="black"/>
              </a:solidFill>
              <a:latin typeface="Calibri Light" panose="020F0302020204030204"/>
            </a:endParaRPr>
          </a:p>
          <a:p>
            <a:pPr lvl="0"/>
            <a:r>
              <a:rPr lang="en-US" sz="1600" dirty="0">
                <a:solidFill>
                  <a:prstClr val="black"/>
                </a:solidFill>
                <a:latin typeface="Calibri Light" panose="020F0302020204030204"/>
              </a:rPr>
              <a:t>Please answer using the rating scale below. </a:t>
            </a:r>
            <a:r>
              <a:rPr lang="en-US" sz="1600" i="1" dirty="0">
                <a:solidFill>
                  <a:prstClr val="black"/>
                </a:solidFill>
                <a:latin typeface="Calibri Light" panose="020F0302020204030204"/>
              </a:rPr>
              <a:t>You have 6 seconds to respond</a:t>
            </a:r>
          </a:p>
        </p:txBody>
      </p:sp>
    </p:spTree>
    <p:extLst>
      <p:ext uri="{BB962C8B-B14F-4D97-AF65-F5344CB8AC3E}">
        <p14:creationId xmlns:p14="http://schemas.microsoft.com/office/powerpoint/2010/main" val="2433606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640080" y="462579"/>
            <a:ext cx="7863840" cy="892552"/>
          </a:xfrm>
          <a:prstGeom prst="rect">
            <a:avLst/>
          </a:prstGeom>
          <a:noFill/>
        </p:spPr>
        <p:txBody>
          <a:bodyPr wrap="square" rtlCol="0">
            <a:spAutoFit/>
          </a:bodyPr>
          <a:lstStyle/>
          <a:p>
            <a:pPr lvl="0"/>
            <a:r>
              <a:rPr lang="en-US" dirty="0">
                <a:latin typeface="+mj-lt"/>
              </a:rPr>
              <a:t>How </a:t>
            </a:r>
            <a:r>
              <a:rPr lang="en-US" b="1" dirty="0"/>
              <a:t>afraid</a:t>
            </a:r>
            <a:r>
              <a:rPr lang="en-US" dirty="0">
                <a:latin typeface="+mj-lt"/>
              </a:rPr>
              <a:t> are </a:t>
            </a:r>
            <a:r>
              <a:rPr lang="en-US" b="1" dirty="0"/>
              <a:t>you</a:t>
            </a:r>
            <a:r>
              <a:rPr lang="en-US" dirty="0">
                <a:latin typeface="+mj-lt"/>
              </a:rPr>
              <a:t> right now?</a:t>
            </a:r>
            <a:endParaRPr lang="en-US" dirty="0">
              <a:solidFill>
                <a:prstClr val="black"/>
              </a:solidFill>
              <a:latin typeface="Calibri Light" panose="020F0302020204030204"/>
            </a:endParaRPr>
          </a:p>
          <a:p>
            <a:pPr lvl="0"/>
            <a:endParaRPr lang="en-US" dirty="0">
              <a:solidFill>
                <a:prstClr val="black"/>
              </a:solidFill>
              <a:latin typeface="Calibri Light" panose="020F0302020204030204"/>
            </a:endParaRPr>
          </a:p>
          <a:p>
            <a:pPr lvl="0"/>
            <a:r>
              <a:rPr lang="en-US" sz="1600" dirty="0">
                <a:solidFill>
                  <a:prstClr val="black"/>
                </a:solidFill>
                <a:latin typeface="Calibri Light" panose="020F0302020204030204"/>
              </a:rPr>
              <a:t>Please answer using the rating scale below. </a:t>
            </a:r>
            <a:r>
              <a:rPr lang="en-US" sz="1600" i="1" dirty="0">
                <a:solidFill>
                  <a:prstClr val="black"/>
                </a:solidFill>
                <a:latin typeface="Calibri Light" panose="020F0302020204030204"/>
              </a:rPr>
              <a:t>You have 6 seconds to respond</a:t>
            </a:r>
          </a:p>
        </p:txBody>
      </p:sp>
    </p:spTree>
    <p:extLst>
      <p:ext uri="{BB962C8B-B14F-4D97-AF65-F5344CB8AC3E}">
        <p14:creationId xmlns:p14="http://schemas.microsoft.com/office/powerpoint/2010/main" val="1558923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B36826-460D-BFD2-4783-451F7054C37A}"/>
              </a:ext>
            </a:extLst>
          </p:cNvPr>
          <p:cNvSpPr txBox="1"/>
          <p:nvPr/>
        </p:nvSpPr>
        <p:spPr>
          <a:xfrm>
            <a:off x="314259" y="2228317"/>
            <a:ext cx="6401851" cy="1754326"/>
          </a:xfrm>
          <a:prstGeom prst="rect">
            <a:avLst/>
          </a:prstGeom>
          <a:noFill/>
        </p:spPr>
        <p:txBody>
          <a:bodyPr wrap="square" rtlCol="0">
            <a:spAutoFit/>
          </a:bodyPr>
          <a:lstStyle/>
          <a:p>
            <a:pPr algn="just"/>
            <a:r>
              <a:rPr lang="en-US" b="1" dirty="0"/>
              <a:t>This is the end of the experiment. Thanks for taking the time to help me!</a:t>
            </a:r>
          </a:p>
          <a:p>
            <a:pPr algn="just"/>
            <a:endParaRPr lang="en-US" dirty="0">
              <a:latin typeface="+mj-lt"/>
            </a:endParaRPr>
          </a:p>
          <a:p>
            <a:pPr algn="just"/>
            <a:r>
              <a:rPr lang="en-US" dirty="0">
                <a:latin typeface="+mj-lt"/>
              </a:rPr>
              <a:t>I have a few more questions for you which you will see if you click the green arrow. This will be the last part of the study and should take about 10-15 minutes.</a:t>
            </a:r>
          </a:p>
        </p:txBody>
      </p:sp>
    </p:spTree>
    <p:extLst>
      <p:ext uri="{BB962C8B-B14F-4D97-AF65-F5344CB8AC3E}">
        <p14:creationId xmlns:p14="http://schemas.microsoft.com/office/powerpoint/2010/main" val="1002349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TotalTime>
  <Words>543</Words>
  <Application>Microsoft Macintosh PowerPoint</Application>
  <PresentationFormat>On-screen Show (4:3)</PresentationFormat>
  <Paragraphs>39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 Biggs</dc:creator>
  <cp:lastModifiedBy>Emma Elizabeth Biggs</cp:lastModifiedBy>
  <cp:revision>24</cp:revision>
  <dcterms:created xsi:type="dcterms:W3CDTF">2022-07-08T03:45:35Z</dcterms:created>
  <dcterms:modified xsi:type="dcterms:W3CDTF">2022-07-20T16:48:17Z</dcterms:modified>
</cp:coreProperties>
</file>